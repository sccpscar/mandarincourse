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resentação" id="{ee1158db-1feb-1ca9-2011-1f4e1736326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Reserva" id="{55327c21-bf95-70b3-e8f4-a2b4dd4c586b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Bom dia. Chamo-me Scarllett Pena e vou apresentar o meu projeto final do curso de Técnico Especialista em Tecnologias e Programação de Sistemas de Informação: o Chá, um site para aprender mandarim na hora do chá. (0:30)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trabalha ou estuda tem pouco tempo livre. Quem quer aprender mandarim encontra sobretudo cursos em inglês ou em português do Brasil, e muitas vezes desiste porque parece difícil demais. [A tua motivação numa frase.] Por isso quis criar um curso gratuito, em português de Portugal, que coubesse num intervalo curto do dia. (1:00)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ideia é estudar um pouco todos os dias, cerca de 15 minutos, o tempo de beber um chá. O nome tem também outra razão: a palavra portuguesa «chá» vem do chinês 茶, chá, e foi trazida de Macau pelos portugueses no século XVI. Por isso dizemos «chá» e os ingleses dizem «tea». O chá liga as duas línguas. (1:00)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site é para falantes de português de Portugal, a partir dos 13 anos, que queiram começar do zero. Os objetivos eram: um caminho claro, uma rota por 6 cidades da China seguindo a norma oficial HSK; som em todas as palavras, também devagar; ferramentas para praticar sem precisar de conta; e, para quem cria conta, guardar as lições concluídas. (0:45)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Usei PHP e MySQL no servidor, e HTML, CSS e JavaScript no browser, sem frameworks, para conseguir explicar cada linha. Quando alguém abre uma lição, o PHP vai à base de dados buscar a lição, as palavras e as frases e monta a página. No browser, o JavaScript faz os exercícios e usa a voz do próprio browser para ler o chinês, por isso não precisei de ficheiros de áudio. Tudo corre no XAMPP. (1:15)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Comecei em junho com protótipos numa só página, para testar a ideia. Em setembro defini a marca e a rota, e construí a versão em PHP e MySQL por fases: base de dados, contas, páginas das cidades e das lições, e o conteúdo. Em outubro testei com utilizadores e melhorei o site com o que eles pediram. (0:45)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base de dados tem 9 tabelas. O conteúdo é uma hierarquia: cada cidade tem unidades, cada unidade tem lições, e cada lição tem palavras e frases. Os utilizadores ligam-se às lições pela tabela progresso, uma relação de muitos para muitos, com uma chave primária de duas colunas para a mesma lição não ser concluída duas vezes. Esta versão tem 72 lições e 523 palavras, e acrescentar mais é só inserir linhas. (1:00)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segurança, as palavras-passe nunca são guardadas: guardo só um hash bcrypt. Todas as consultas são preparadas, contra SQL injection; o texto é escapado contra XSS; os formulários têm um token contra CSRF; e ao fim de 5 tentativas falhadas o login fica bloqueado 15 minutos. Testei isto com 20 testes automáticos. No RGPD, peço só o necessário, guardo a data do consentimento, peço a idade mínima de 13 anos, como diz a lei portuguesa, e quem eliminar a conta apaga todos os seus dados. Depois diz: «Agora vou mostrar o site a funcionar.» (1:00)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Muda para o browser e segue o roteiro da demonstração do guião (4:30): página inicial, a rota, Pequim, lição 1 com som e exercício, concluir lição, cartões e traços, modo escuro, phpMyAdmin com o hash. Se algo falhar, os diapositivos de reserva no fim têm as capturas de cada passo.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 a [quem] que testassem o site. As sugestões mais importantes foram letra maior, poder ouvir tudo também devagar, o quiz não passar sozinho à pergunta seguinte e separar a gramática. Fiz essas mudanças, e foram das que mais melhoraram o site. (0:45)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maior dificuldade foi [a tua]. Resolvi [como]. Aprendi [duas coisas]. (0:45)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site tem limitações que conheço: esta versão tem as primeiras 72 lições da rota; o progresso das ferramentas de prática fica só no browser; e o som depende de o browser ter uma voz chinesa. No futuro quero completar a rota até ao nível 3 do HSK, guardar todo o progresso na conta, criar missões no fim de cada cidade e um certificado. (0:45)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 Chá juntei o que aprendi no curso, PHP, bases de dados, JavaScript, segurança, com uma coisa de que gosto. Termino com a frase que está no fim da página inicial: 我们开始吧, wǒmen kāishǐ ba, vamos começar! Obrigada. Estou disponível para as vossas perguntas. (0:45)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Diapositivos de reserva: usa-os só se o site não abrir. Comenta cada captura como se fosse a demonstração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E7C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7295" y="6291072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6535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AO">
    <p:bg>
      <p:bgPr>
        <a:solidFill>
          <a:srgbClr val="18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TURA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6535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6535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ótipo do Chá: o caractere 茶 num carimbo vermelh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2296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2402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Chá</a:t>
            </a:r>
            <a:endParaRPr lang="en-US" sz="7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32918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8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mandarim na hora do chá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480560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Scarllett Sabrina Pena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Técnico/a Especialista em Tecnologias e Programação de Sistemas de Informação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Formador: Sérgio Santos · IEFP Leiria · novembro de 2026</a:t>
            </a:r>
            <a:endParaRPr lang="en-US" sz="1500" dirty="0"/>
          </a:p>
        </p:txBody>
      </p:sp>
      <p:pic>
        <p:nvPicPr>
          <p:cNvPr id="6" name="Image 1" descr="A página inicial do Chá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34440"/>
            <a:ext cx="5120640" cy="288036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Porque é que tão poucos começam o mandarim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474720" cy="3657600"/>
          </a:xfrm>
          <a:prstGeom prst="roundRect">
            <a:avLst>
              <a:gd name="adj" fmla="val 3158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</p:sp>
      <p:sp>
        <p:nvSpPr>
          <p:cNvPr id="4" name="circulo-icone"/>
          <p:cNvSpPr/>
          <p:nvPr/>
        </p:nvSpPr>
        <p:spPr>
          <a:xfrm>
            <a:off x="868680" y="2148840"/>
            <a:ext cx="914400" cy="914400"/>
          </a:xfrm>
          <a:prstGeom prst="ellipse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368296"/>
            <a:ext cx="475488" cy="4754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3337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 tempo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93192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6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trabalha ou estuda tem poucos minutos livres por dia.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297680" y="1828800"/>
            <a:ext cx="3474720" cy="3657600"/>
          </a:xfrm>
          <a:prstGeom prst="roundRect">
            <a:avLst>
              <a:gd name="adj" fmla="val 3158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</p:sp>
      <p:sp>
        <p:nvSpPr>
          <p:cNvPr id="9" name="circulo-icone"/>
          <p:cNvSpPr/>
          <p:nvPr/>
        </p:nvSpPr>
        <p:spPr>
          <a:xfrm>
            <a:off x="4617720" y="2148840"/>
            <a:ext cx="914400" cy="914400"/>
          </a:xfrm>
          <a:prstGeom prst="ellipse">
            <a:avLst/>
          </a:prstGeom>
          <a:solidFill>
            <a:srgbClr val="C8361F"/>
          </a:solidFill>
          <a:ln w="12700">
            <a:solidFill>
              <a:srgbClr val="C8361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2368296"/>
            <a:ext cx="475488" cy="47548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7720" y="3337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Poucos cursos em PT-PT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393192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6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dos cursos está em inglês ou em português do Brasil.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046720" y="1828800"/>
            <a:ext cx="3474720" cy="3657600"/>
          </a:xfrm>
          <a:prstGeom prst="roundRect">
            <a:avLst>
              <a:gd name="adj" fmla="val 3158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</p:sp>
      <p:sp>
        <p:nvSpPr>
          <p:cNvPr id="14" name="circulo-icone"/>
          <p:cNvSpPr/>
          <p:nvPr/>
        </p:nvSpPr>
        <p:spPr>
          <a:xfrm>
            <a:off x="8366760" y="2148840"/>
            <a:ext cx="914400" cy="914400"/>
          </a:xfrm>
          <a:prstGeom prst="ellipse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216" y="2368296"/>
            <a:ext cx="475488" cy="47548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66760" y="3337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Parece difícil demais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8366760" y="393192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6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Tons, caracteres e pinyin assustam quem começa do zero.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6535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Um pouco todos os dias, no tempo de um chá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4206240" cy="4206240"/>
          </a:xfrm>
          <a:prstGeom prst="roundRect">
            <a:avLst>
              <a:gd name="adj" fmla="val 2609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874520"/>
            <a:ext cx="4206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0" dirty="0">
                <a:solidFill>
                  <a:srgbClr val="C83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茶</a:t>
            </a:r>
            <a:endParaRPr lang="en-US" sz="17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548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chá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394960" y="178308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6400" dirty="0"/>
          </a:p>
        </p:txBody>
      </p:sp>
      <p:sp>
        <p:nvSpPr>
          <p:cNvPr id="7" name="Text 5"/>
          <p:cNvSpPr txBox="1"/>
          <p:nvPr/>
        </p:nvSpPr>
        <p:spPr>
          <a:xfrm>
            <a:off x="5394960" y="27889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6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dia: o tempo de beber uma chávena de chá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3657600"/>
            <a:ext cx="6217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nome liga as duas línguas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46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palavra portuguesa «chá» vem do chinês 茶 (chá), trazida de Macau no século XVI. Por isso dizemos «chá», como em Pequim, e os ingleses dizem «tea».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6535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Para quem é e o que queria conseguir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931920" cy="4206240"/>
          </a:xfrm>
          <a:prstGeom prst="roundRect">
            <a:avLst>
              <a:gd name="adj" fmla="val 2791"/>
            </a:avLst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4" name="circulo-icone"/>
          <p:cNvSpPr/>
          <p:nvPr/>
        </p:nvSpPr>
        <p:spPr>
          <a:xfrm>
            <a:off x="914400" y="205740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2276856"/>
            <a:ext cx="475488" cy="4754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200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79476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Falantes de português de Portugal, a partir dos 13 anos, que querem começar o mandarim do zero.</a:t>
            </a:r>
            <a:endParaRPr lang="en-US" sz="1700" dirty="0"/>
          </a:p>
        </p:txBody>
      </p:sp>
      <p:sp>
        <p:nvSpPr>
          <p:cNvPr id="8" name="circulo-icone"/>
          <p:cNvSpPr/>
          <p:nvPr/>
        </p:nvSpPr>
        <p:spPr>
          <a:xfrm>
            <a:off x="4937760" y="1783080"/>
            <a:ext cx="685800" cy="685800"/>
          </a:xfrm>
          <a:prstGeom prst="ellipse">
            <a:avLst/>
          </a:prstGeom>
          <a:solidFill>
            <a:srgbClr val="D8EEE8"/>
          </a:solidFill>
          <a:ln w="12700">
            <a:solidFill>
              <a:srgbClr val="D8EEE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352" y="1947672"/>
            <a:ext cx="356616" cy="35661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806440" y="176479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rota com objetivo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5806440" y="213055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cidades da China, seguindo a norma oficial HSK 3.0</a:t>
            </a:r>
            <a:endParaRPr lang="en-US" sz="1500" dirty="0"/>
          </a:p>
        </p:txBody>
      </p:sp>
      <p:sp>
        <p:nvSpPr>
          <p:cNvPr id="12" name="circulo-icone"/>
          <p:cNvSpPr/>
          <p:nvPr/>
        </p:nvSpPr>
        <p:spPr>
          <a:xfrm>
            <a:off x="4937760" y="2834640"/>
            <a:ext cx="685800" cy="685800"/>
          </a:xfrm>
          <a:prstGeom prst="ellipse">
            <a:avLst/>
          </a:prstGeom>
          <a:solidFill>
            <a:srgbClr val="D8EEE8"/>
          </a:solidFill>
          <a:ln w="12700">
            <a:solidFill>
              <a:srgbClr val="D8EEE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352" y="2999232"/>
            <a:ext cx="356616" cy="35661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806440" y="281635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em todo o chinês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5806440" y="318211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Botões «Ouvir» e «Devagar» em cada palavra e frase</a:t>
            </a:r>
            <a:endParaRPr lang="en-US" sz="1500" dirty="0"/>
          </a:p>
        </p:txBody>
      </p:sp>
      <p:sp>
        <p:nvSpPr>
          <p:cNvPr id="16" name="circulo-icone"/>
          <p:cNvSpPr/>
          <p:nvPr/>
        </p:nvSpPr>
        <p:spPr>
          <a:xfrm>
            <a:off x="4937760" y="3886200"/>
            <a:ext cx="685800" cy="685800"/>
          </a:xfrm>
          <a:prstGeom prst="ellipse">
            <a:avLst/>
          </a:prstGeom>
          <a:solidFill>
            <a:srgbClr val="D8EEE8"/>
          </a:solidFill>
          <a:ln w="12700">
            <a:solidFill>
              <a:srgbClr val="D8EEE8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352" y="4050792"/>
            <a:ext cx="356616" cy="35661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806440" y="386791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Praticar sem conta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5806440" y="423367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Quiz, cartões de memória, jogo, traços e pronúncia</a:t>
            </a:r>
            <a:endParaRPr lang="en-US" sz="1500" dirty="0"/>
          </a:p>
        </p:txBody>
      </p:sp>
      <p:sp>
        <p:nvSpPr>
          <p:cNvPr id="20" name="circulo-icone"/>
          <p:cNvSpPr/>
          <p:nvPr/>
        </p:nvSpPr>
        <p:spPr>
          <a:xfrm>
            <a:off x="4937760" y="4937760"/>
            <a:ext cx="685800" cy="685800"/>
          </a:xfrm>
          <a:prstGeom prst="ellipse">
            <a:avLst/>
          </a:prstGeom>
          <a:solidFill>
            <a:srgbClr val="D8EEE8"/>
          </a:solidFill>
          <a:ln w="12700">
            <a:solidFill>
              <a:srgbClr val="D8EEE8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2352" y="5102352"/>
            <a:ext cx="356616" cy="35661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806440" y="491947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Progresso guardado</a:t>
            </a:r>
            <a:endParaRPr lang="en-US" sz="1900" dirty="0"/>
          </a:p>
        </p:txBody>
      </p:sp>
      <p:sp>
        <p:nvSpPr>
          <p:cNvPr id="23" name="Text 16"/>
          <p:cNvSpPr txBox="1"/>
          <p:nvPr/>
        </p:nvSpPr>
        <p:spPr>
          <a:xfrm>
            <a:off x="5806440" y="528523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conta, as lições concluídas ficam na base de dados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6535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Três camadas, sem frameworks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</p:sp>
      <p:sp>
        <p:nvSpPr>
          <p:cNvPr id="4" name="circulo-icone"/>
          <p:cNvSpPr/>
          <p:nvPr/>
        </p:nvSpPr>
        <p:spPr>
          <a:xfrm>
            <a:off x="1783080" y="2011680"/>
            <a:ext cx="914400" cy="914400"/>
          </a:xfrm>
          <a:prstGeom prst="ellipse">
            <a:avLst/>
          </a:prstGeom>
          <a:solidFill>
            <a:srgbClr val="2F6FD0"/>
          </a:solidFill>
          <a:ln w="12700">
            <a:solidFill>
              <a:srgbClr val="2F6FD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2536" y="2231136"/>
            <a:ext cx="475488" cy="4754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3063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JavaScript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97764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6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as páginas, faz os exercícios e lê o chinês com a voz do browser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393192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46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4389120" y="173736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</p:sp>
      <p:sp>
        <p:nvSpPr>
          <p:cNvPr id="11" name="circulo-icone"/>
          <p:cNvSpPr/>
          <p:nvPr/>
        </p:nvSpPr>
        <p:spPr>
          <a:xfrm>
            <a:off x="5623560" y="2011680"/>
            <a:ext cx="914400" cy="914400"/>
          </a:xfrm>
          <a:prstGeom prst="ellipse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016" y="2231136"/>
            <a:ext cx="475488" cy="4754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72000" y="3063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+ PHP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web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663440" y="397764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6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 cada página com os dados da base e trata das contas e da segurança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77724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46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3000" dirty="0"/>
          </a:p>
        </p:txBody>
      </p:sp>
      <p:sp>
        <p:nvSpPr>
          <p:cNvPr id="17" name="Shape 13"/>
          <p:cNvSpPr/>
          <p:nvPr/>
        </p:nvSpPr>
        <p:spPr>
          <a:xfrm>
            <a:off x="8229600" y="173736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</p:sp>
      <p:sp>
        <p:nvSpPr>
          <p:cNvPr id="18" name="circulo-icone"/>
          <p:cNvSpPr/>
          <p:nvPr/>
        </p:nvSpPr>
        <p:spPr>
          <a:xfrm>
            <a:off x="9464040" y="2011680"/>
            <a:ext cx="914400" cy="914400"/>
          </a:xfrm>
          <a:prstGeom prst="ellipse">
            <a:avLst/>
          </a:prstGeom>
          <a:solidFill>
            <a:srgbClr val="C8361F"/>
          </a:solidFill>
          <a:ln w="12700">
            <a:solidFill>
              <a:srgbClr val="C8361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496" y="2231136"/>
            <a:ext cx="475488" cy="47548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412480" y="3063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MariaDB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8412480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3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tabelas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8503920" y="397764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6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a rota, as lições, as palavras, as contas e o progresso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557784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corre no XAMPP. Sem ficheiros de áudio: o som vem da Web Speech API do browser.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6535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Do protótipo ao site em PHP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2743200"/>
            <a:ext cx="9448495" cy="0"/>
          </a:xfrm>
          <a:prstGeom prst="line">
            <a:avLst/>
          </a:prstGeom>
          <a:noFill/>
          <a:ln w="50800">
            <a:solidFill>
              <a:srgbClr val="D8EE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2468880"/>
            <a:ext cx="548640" cy="548640"/>
          </a:xfrm>
          <a:prstGeom prst="ellipse">
            <a:avLst/>
          </a:prstGeom>
          <a:solidFill>
            <a:srgbClr val="0E7C6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6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 2026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" y="3291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1440" y="379476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6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só página HTML para testar a ideia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46778" y="2468880"/>
            <a:ext cx="548640" cy="548640"/>
          </a:xfrm>
          <a:prstGeom prst="ellipse">
            <a:avLst/>
          </a:prstGeom>
          <a:solidFill>
            <a:srgbClr val="0E7C6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46778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240938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6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set.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240938" y="3291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Planeamento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240938" y="379476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6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Marca, rota de 12 meses e fotografias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96277" y="2468880"/>
            <a:ext cx="548640" cy="548640"/>
          </a:xfrm>
          <a:prstGeom prst="ellipse">
            <a:avLst/>
          </a:prstGeom>
          <a:solidFill>
            <a:srgbClr val="0E7C6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96277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390437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6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a 29 set.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90437" y="3291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PHP e MySQL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390437" y="379476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6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dados, contas, cidades, 72 lições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545775" y="2468880"/>
            <a:ext cx="548640" cy="548640"/>
          </a:xfrm>
          <a:prstGeom prst="ellipse">
            <a:avLst/>
          </a:prstGeom>
          <a:solidFill>
            <a:srgbClr val="C8361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45775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539935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6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Outubro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539935" y="3291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e melhorias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539935" y="379476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6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Sugestões de utilizadores, segurança, simplificação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6535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 base de dados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1600200" cy="548640"/>
          </a:xfrm>
          <a:prstGeom prst="roundRect">
            <a:avLst>
              <a:gd name="adj" fmla="val 16667"/>
            </a:avLst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8288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148840" y="2103120"/>
            <a:ext cx="411480" cy="0"/>
          </a:xfrm>
          <a:prstGeom prst="line">
            <a:avLst/>
          </a:prstGeom>
          <a:noFill/>
          <a:ln w="19050">
            <a:solidFill>
              <a:srgbClr val="46535D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560320" y="1828800"/>
            <a:ext cx="1600200" cy="548640"/>
          </a:xfrm>
          <a:prstGeom prst="roundRect">
            <a:avLst>
              <a:gd name="adj" fmla="val 16667"/>
            </a:avLst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8288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60520" y="2103120"/>
            <a:ext cx="411480" cy="0"/>
          </a:xfrm>
          <a:prstGeom prst="line">
            <a:avLst/>
          </a:prstGeom>
          <a:noFill/>
          <a:ln w="19050">
            <a:solidFill>
              <a:srgbClr val="46535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0" y="1828800"/>
            <a:ext cx="1600200" cy="548640"/>
          </a:xfrm>
          <a:prstGeom prst="roundRect">
            <a:avLst>
              <a:gd name="adj" fmla="val 16667"/>
            </a:avLst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8288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lições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1600200" cy="548640"/>
          </a:xfrm>
          <a:prstGeom prst="roundRect">
            <a:avLst>
              <a:gd name="adj" fmla="val 16667"/>
            </a:avLst>
          </a:prstGeom>
          <a:solidFill>
            <a:srgbClr val="46535D"/>
          </a:solidFill>
          <a:ln w="12700">
            <a:solidFill>
              <a:srgbClr val="46535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0175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344168" y="2377440"/>
            <a:ext cx="0" cy="640080"/>
          </a:xfrm>
          <a:prstGeom prst="line">
            <a:avLst/>
          </a:prstGeom>
          <a:noFill/>
          <a:ln w="19050">
            <a:solidFill>
              <a:srgbClr val="46535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566160" y="3017520"/>
            <a:ext cx="1600200" cy="548640"/>
          </a:xfrm>
          <a:prstGeom prst="roundRect">
            <a:avLst>
              <a:gd name="adj" fmla="val 16667"/>
            </a:avLst>
          </a:prstGeom>
          <a:solidFill>
            <a:srgbClr val="46535D"/>
          </a:solidFill>
          <a:ln w="12700">
            <a:solidFill>
              <a:srgbClr val="46535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66160" y="30175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937760" y="2377440"/>
            <a:ext cx="-576072" cy="640080"/>
          </a:xfrm>
          <a:prstGeom prst="line">
            <a:avLst/>
          </a:prstGeom>
          <a:noFill/>
          <a:ln w="19050">
            <a:solidFill>
              <a:srgbClr val="46535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40680" y="3017520"/>
            <a:ext cx="1600200" cy="548640"/>
          </a:xfrm>
          <a:prstGeom prst="roundRect">
            <a:avLst>
              <a:gd name="adj" fmla="val 16667"/>
            </a:avLst>
          </a:prstGeom>
          <a:solidFill>
            <a:srgbClr val="46535D"/>
          </a:solidFill>
          <a:ln w="12700">
            <a:solidFill>
              <a:srgbClr val="46535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40680" y="30175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806440" y="2377440"/>
            <a:ext cx="429768" cy="640080"/>
          </a:xfrm>
          <a:prstGeom prst="line">
            <a:avLst/>
          </a:prstGeom>
          <a:noFill/>
          <a:ln w="19050">
            <a:solidFill>
              <a:srgbClr val="46535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367528" y="2377440"/>
            <a:ext cx="0" cy="2103120"/>
          </a:xfrm>
          <a:prstGeom prst="line">
            <a:avLst/>
          </a:prstGeom>
          <a:noFill/>
          <a:ln w="19050">
            <a:solidFill>
              <a:srgbClr val="46535D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286000" y="4480560"/>
            <a:ext cx="1600200" cy="548640"/>
          </a:xfrm>
          <a:prstGeom prst="roundRect">
            <a:avLst>
              <a:gd name="adj" fmla="val 16667"/>
            </a:avLst>
          </a:prstGeom>
          <a:solidFill>
            <a:srgbClr val="C8361F"/>
          </a:solidFill>
          <a:ln w="12700">
            <a:solidFill>
              <a:srgbClr val="C836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286000" y="4480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utilizadores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886200" y="4754880"/>
            <a:ext cx="685800" cy="0"/>
          </a:xfrm>
          <a:prstGeom prst="line">
            <a:avLst/>
          </a:prstGeom>
          <a:noFill/>
          <a:ln w="19050">
            <a:solidFill>
              <a:srgbClr val="46535D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572000" y="4480560"/>
            <a:ext cx="1600200" cy="548640"/>
          </a:xfrm>
          <a:prstGeom prst="roundRect">
            <a:avLst>
              <a:gd name="adj" fmla="val 16667"/>
            </a:avLst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0" y="4480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progresso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2286000" y="52120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6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N:N: um aluno conclui muitas lições; uma lição é concluída por muitos alunos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406640" y="1737360"/>
            <a:ext cx="4206240" cy="1188720"/>
          </a:xfrm>
          <a:prstGeom prst="roundRect">
            <a:avLst>
              <a:gd name="adj" fmla="val 9231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0" y="17373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5400" dirty="0"/>
          </a:p>
        </p:txBody>
      </p:sp>
      <p:sp>
        <p:nvSpPr>
          <p:cNvPr id="29" name="Text 27"/>
          <p:cNvSpPr txBox="1"/>
          <p:nvPr/>
        </p:nvSpPr>
        <p:spPr>
          <a:xfrm>
            <a:off x="9418320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7406640" y="3108960"/>
            <a:ext cx="4206240" cy="1188720"/>
          </a:xfrm>
          <a:prstGeom prst="roundRect">
            <a:avLst>
              <a:gd name="adj" fmla="val 9231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80960" y="31089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5400" dirty="0"/>
          </a:p>
        </p:txBody>
      </p:sp>
      <p:sp>
        <p:nvSpPr>
          <p:cNvPr id="32" name="Text 30"/>
          <p:cNvSpPr txBox="1"/>
          <p:nvPr/>
        </p:nvSpPr>
        <p:spPr>
          <a:xfrm>
            <a:off x="9418320" y="31089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lições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7406640" y="4480560"/>
            <a:ext cx="4206240" cy="1188720"/>
          </a:xfrm>
          <a:prstGeom prst="roundRect">
            <a:avLst>
              <a:gd name="adj" fmla="val 9231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80960" y="44805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523</a:t>
            </a:r>
            <a:endParaRPr lang="en-US" sz="5400" dirty="0"/>
          </a:p>
        </p:txBody>
      </p:sp>
      <p:sp>
        <p:nvSpPr>
          <p:cNvPr id="35" name="Text 33"/>
          <p:cNvSpPr txBox="1"/>
          <p:nvPr/>
        </p:nvSpPr>
        <p:spPr>
          <a:xfrm>
            <a:off x="9418320" y="44805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6535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Segurança e proteção de dados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</p:sp>
      <p:sp>
        <p:nvSpPr>
          <p:cNvPr id="4" name="circulo-icone"/>
          <p:cNvSpPr/>
          <p:nvPr/>
        </p:nvSpPr>
        <p:spPr>
          <a:xfrm>
            <a:off x="868680" y="1965960"/>
            <a:ext cx="777240" cy="777240"/>
          </a:xfrm>
          <a:prstGeom prst="ellipse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215249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20574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97180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Palavras-passe só como hash bcrypt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preparadas contra SQL injection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escapado contra XSS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contra CSRF em cada formulário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falhas de login: bloqueio de 15 minutos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17920" y="173736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</p:sp>
      <p:sp>
        <p:nvSpPr>
          <p:cNvPr id="9" name="circulo-icone"/>
          <p:cNvSpPr/>
          <p:nvPr/>
        </p:nvSpPr>
        <p:spPr>
          <a:xfrm>
            <a:off x="6537960" y="1965960"/>
            <a:ext cx="777240" cy="777240"/>
          </a:xfrm>
          <a:prstGeom prst="ellipse">
            <a:avLst/>
          </a:prstGeom>
          <a:solidFill>
            <a:srgbClr val="C8361F"/>
          </a:solidFill>
          <a:ln w="12700">
            <a:solidFill>
              <a:srgbClr val="C8361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498" y="2152498"/>
            <a:ext cx="404165" cy="40416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98080" y="20574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583680" y="297180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nome, e-mail e palavra-passe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Consentimento com data guardada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 mínima de 13 anos (Lei n.º 58/2019)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a conta apaga todos os dados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publicidade nem cookies de rastreio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5897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6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Testado com 20 testes automáticos de segurança: todos passam.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6535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110944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Demonstração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566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8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[endereço do site]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 que os testes com utilizadores mudaram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35508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mudei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120640" cy="777240"/>
          </a:xfrm>
          <a:prstGeom prst="roundRect">
            <a:avLst>
              <a:gd name="adj" fmla="val 14118"/>
            </a:avLst>
          </a:prstGeom>
          <a:solidFill>
            <a:srgbClr val="FBE3DE"/>
          </a:solidFill>
          <a:ln w="12700">
            <a:solidFill>
              <a:srgbClr val="FBE3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letra parecia pequena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715000" y="21488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172200" y="2148840"/>
            <a:ext cx="5468112" cy="777240"/>
          </a:xfrm>
          <a:prstGeom prst="roundRect">
            <a:avLst>
              <a:gd name="adj" fmla="val 14118"/>
            </a:avLst>
          </a:prstGeom>
          <a:solidFill>
            <a:srgbClr val="D8EEE8"/>
          </a:solidFill>
          <a:ln w="12700">
            <a:solidFill>
              <a:srgbClr val="D8EE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55080" y="21488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Letra maior em todo o site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5120640" cy="777240"/>
          </a:xfrm>
          <a:prstGeom prst="roundRect">
            <a:avLst>
              <a:gd name="adj" fmla="val 14118"/>
            </a:avLst>
          </a:prstGeom>
          <a:solidFill>
            <a:srgbClr val="FBE3DE"/>
          </a:solidFill>
          <a:ln w="12700">
            <a:solidFill>
              <a:srgbClr val="FBE3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0632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Queriam ouvir tudo, também devagar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30632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172200" y="3063240"/>
            <a:ext cx="5468112" cy="777240"/>
          </a:xfrm>
          <a:prstGeom prst="roundRect">
            <a:avLst>
              <a:gd name="adj" fmla="val 14118"/>
            </a:avLst>
          </a:prstGeom>
          <a:solidFill>
            <a:srgbClr val="D8EEE8"/>
          </a:solidFill>
          <a:ln w="12700">
            <a:solidFill>
              <a:srgbClr val="D8EE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5080" y="30632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Botões «Ouvir» e «Devagar» e pinyin em todo o chinês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5120640" cy="777240"/>
          </a:xfrm>
          <a:prstGeom prst="roundRect">
            <a:avLst>
              <a:gd name="adj" fmla="val 14118"/>
            </a:avLst>
          </a:prstGeom>
          <a:solidFill>
            <a:srgbClr val="FBE3DE"/>
          </a:solidFill>
          <a:ln w="12700">
            <a:solidFill>
              <a:srgbClr val="FBE3D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9776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quiz passava sozinho à pergunta seguinte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715000" y="39776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172200" y="3977640"/>
            <a:ext cx="5468112" cy="777240"/>
          </a:xfrm>
          <a:prstGeom prst="roundRect">
            <a:avLst>
              <a:gd name="adj" fmla="val 14118"/>
            </a:avLst>
          </a:prstGeom>
          <a:solidFill>
            <a:srgbClr val="D8EEE8"/>
          </a:solidFill>
          <a:ln w="12700">
            <a:solidFill>
              <a:srgbClr val="D8EE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55080" y="39776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«Próxima pergunta» e lista das erradas no fim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5120640" cy="777240"/>
          </a:xfrm>
          <a:prstGeom prst="roundRect">
            <a:avLst>
              <a:gd name="adj" fmla="val 14118"/>
            </a:avLst>
          </a:prstGeom>
          <a:solidFill>
            <a:srgbClr val="FBE3DE"/>
          </a:solidFill>
          <a:ln w="12700">
            <a:solidFill>
              <a:srgbClr val="FBE3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8920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gramática estava misturada no Básico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715000" y="48920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6172200" y="4892040"/>
            <a:ext cx="5468112" cy="777240"/>
          </a:xfrm>
          <a:prstGeom prst="roundRect">
            <a:avLst>
              <a:gd name="adj" fmla="val 14118"/>
            </a:avLst>
          </a:prstGeom>
          <a:solidFill>
            <a:srgbClr val="D8EEE8"/>
          </a:solidFill>
          <a:ln w="12700">
            <a:solidFill>
              <a:srgbClr val="D8EE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55080" y="48920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própria de Gramática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6535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Dificuldades e aprendizagens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</p:sp>
      <p:sp>
        <p:nvSpPr>
          <p:cNvPr id="4" name="circulo-icone"/>
          <p:cNvSpPr/>
          <p:nvPr/>
        </p:nvSpPr>
        <p:spPr>
          <a:xfrm>
            <a:off x="868680" y="1965960"/>
            <a:ext cx="777240" cy="777240"/>
          </a:xfrm>
          <a:prstGeom prst="ellipse">
            <a:avLst/>
          </a:prstGeom>
          <a:solidFill>
            <a:srgbClr val="C8361F"/>
          </a:solidFill>
          <a:ln w="12700">
            <a:solidFill>
              <a:srgbClr val="C8361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215249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20574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Dificuldades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97180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 tua maior dificuldade]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[Como a resolveste]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217920" y="173736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</p:sp>
      <p:sp>
        <p:nvSpPr>
          <p:cNvPr id="9" name="circulo-icone"/>
          <p:cNvSpPr/>
          <p:nvPr/>
        </p:nvSpPr>
        <p:spPr>
          <a:xfrm>
            <a:off x="6537960" y="1965960"/>
            <a:ext cx="777240" cy="77724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498" y="2152498"/>
            <a:ext cx="404165" cy="40416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98080" y="20574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aprendi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583680" y="297180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[Por exemplo: organizar um projeto grande por fases]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[Por exemplo: testar com pessoas reais]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6535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Limitações e próximos passos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</p:sp>
      <p:sp>
        <p:nvSpPr>
          <p:cNvPr id="4" name="circulo-icone"/>
          <p:cNvSpPr/>
          <p:nvPr/>
        </p:nvSpPr>
        <p:spPr>
          <a:xfrm>
            <a:off x="868680" y="1965960"/>
            <a:ext cx="777240" cy="777240"/>
          </a:xfrm>
          <a:prstGeom prst="ellipse">
            <a:avLst/>
          </a:prstGeom>
          <a:solidFill>
            <a:srgbClr val="46535D"/>
          </a:solidFill>
          <a:ln w="12700">
            <a:solidFill>
              <a:srgbClr val="46535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215249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20574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97180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versão tem as primeiras 72 lições da rota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progresso das ferramentas fica só no browser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som depende de o browser ter voz chinesa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17920" y="173736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</p:sp>
      <p:sp>
        <p:nvSpPr>
          <p:cNvPr id="9" name="circulo-icone"/>
          <p:cNvSpPr/>
          <p:nvPr/>
        </p:nvSpPr>
        <p:spPr>
          <a:xfrm>
            <a:off x="6537960" y="1965960"/>
            <a:ext cx="777240" cy="777240"/>
          </a:xfrm>
          <a:prstGeom prst="ellipse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498" y="2152498"/>
            <a:ext cx="404165" cy="40416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98080" y="20574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futuro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583680" y="297180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a rota até ao nível 3 do HSK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todo o progresso na conta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Missões no fim de cada cidade e certificado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8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com IA, do lado do servidor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0936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6535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我们开始吧！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D8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wǒmen kāishǐ ba! · Vamos começar!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Obrigada. Perguntas?</a:t>
            </a:r>
            <a:endParaRPr lang="en-US" sz="4000" dirty="0"/>
          </a:p>
        </p:txBody>
      </p:sp>
      <p:pic>
        <p:nvPicPr>
          <p:cNvPr id="5" name="Image 0" descr="Logótipo do Ch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0088" y="521208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110944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Reserva: capturas da demonstração</a:t>
            </a:r>
            <a:endParaRPr lang="en-US" sz="4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Página inicial</a:t>
            </a:r>
            <a:endParaRPr lang="en-US" sz="2400" dirty="0"/>
          </a:p>
        </p:txBody>
      </p:sp>
      <p:pic>
        <p:nvPicPr>
          <p:cNvPr id="3" name="Image 0" descr="Página inici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968" y="960120"/>
            <a:ext cx="9509760" cy="5349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6535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 rota: 6 cidades e o progresso da conta</a:t>
            </a:r>
            <a:endParaRPr lang="en-US" sz="2400" dirty="0"/>
          </a:p>
        </p:txBody>
      </p:sp>
      <p:pic>
        <p:nvPicPr>
          <p:cNvPr id="3" name="Image 0" descr="A rota: 6 cidades e o progresso da con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968" y="960120"/>
            <a:ext cx="9509760" cy="5349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6535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Pequim: descrição, nível HSK e unidades</a:t>
            </a:r>
            <a:endParaRPr lang="en-US" sz="2400" dirty="0"/>
          </a:p>
        </p:txBody>
      </p:sp>
      <p:pic>
        <p:nvPicPr>
          <p:cNvPr id="3" name="Image 0" descr="Pequim: descrição, nível HSK e unidad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968" y="960120"/>
            <a:ext cx="9509760" cy="5349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6535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Lição: explicação, palavras e frases com som</a:t>
            </a:r>
            <a:endParaRPr lang="en-US" sz="2400" dirty="0"/>
          </a:p>
        </p:txBody>
      </p:sp>
      <p:pic>
        <p:nvPicPr>
          <p:cNvPr id="3" name="Image 0" descr="Lição: explicação, palavras e frases com s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968" y="960120"/>
            <a:ext cx="9509760" cy="5349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6535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Exercício da lição, com a correção antes de passar</a:t>
            </a:r>
            <a:endParaRPr lang="en-US" sz="2400" dirty="0"/>
          </a:p>
        </p:txBody>
      </p:sp>
      <p:pic>
        <p:nvPicPr>
          <p:cNvPr id="3" name="Image 0" descr="Exercício da lição, com a correção antes de pass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968" y="960120"/>
            <a:ext cx="9509760" cy="5349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6535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Praticar: cartões de memória com revisão espaçada</a:t>
            </a:r>
            <a:endParaRPr lang="en-US" sz="2400" dirty="0"/>
          </a:p>
        </p:txBody>
      </p:sp>
      <p:pic>
        <p:nvPicPr>
          <p:cNvPr id="3" name="Image 0" descr="Praticar: cartões de memória com revisão espaçad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968" y="960120"/>
            <a:ext cx="9509760" cy="5349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6535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Praticar: ordem dos traços, também sem internet</a:t>
            </a:r>
            <a:endParaRPr lang="en-US" sz="2400" dirty="0"/>
          </a:p>
        </p:txBody>
      </p:sp>
      <p:pic>
        <p:nvPicPr>
          <p:cNvPr id="3" name="Image 0" descr="Praticar: ordem dos traços, também sem intern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968" y="960120"/>
            <a:ext cx="9509760" cy="5349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6535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Modo escuro</a:t>
            </a:r>
            <a:endParaRPr lang="en-US" sz="2400" dirty="0"/>
          </a:p>
        </p:txBody>
      </p:sp>
      <p:pic>
        <p:nvPicPr>
          <p:cNvPr id="3" name="Image 0" descr="Modo escu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968" y="960120"/>
            <a:ext cx="9509760" cy="5349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6535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 minha conta: terminar sessão e eliminar a conta</a:t>
            </a:r>
            <a:endParaRPr lang="en-US" sz="2400" dirty="0"/>
          </a:p>
        </p:txBody>
      </p:sp>
      <p:pic>
        <p:nvPicPr>
          <p:cNvPr id="3" name="Image 0" descr="A minha conta: terminar sessão e eliminar a con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968" y="960120"/>
            <a:ext cx="9509760" cy="5349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6535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á">
  <a:themeElements>
    <a:clrScheme name="Chá">
      <a:dk1>
        <a:srgbClr val="18212B"/>
      </a:dk1>
      <a:lt1>
        <a:srgbClr val="FFFFFF"/>
      </a:lt1>
      <a:dk2>
        <a:srgbClr val="0E7C66"/>
      </a:dk2>
      <a:lt2>
        <a:srgbClr val="F4F7F6"/>
      </a:lt2>
      <a:accent1>
        <a:srgbClr val="0E7C66"/>
      </a:accent1>
      <a:accent2>
        <a:srgbClr val="C8361F"/>
      </a:accent2>
      <a:accent3>
        <a:srgbClr val="E8A317"/>
      </a:accent3>
      <a:accent4>
        <a:srgbClr val="2F6FD0"/>
      </a:accent4>
      <a:accent5>
        <a:srgbClr val="A8325E"/>
      </a:accent5>
      <a:accent6>
        <a:srgbClr val="46535D"/>
      </a:accent6>
      <a:hlink>
        <a:srgbClr val="0E7C66"/>
      </a:hlink>
      <a:folHlink>
        <a:srgbClr val="0A5C4C"/>
      </a:folHlink>
    </a:clrScheme>
    <a:fontScheme name="Chá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Chá: aprender mandarim na hora do chá</dc:title>
  <dc:subject>PptxGenJS Presentation</dc:subject>
  <dc:creator>Scarllett Sabrina Pena</dc:creator>
  <cp:lastModifiedBy>Scarllett Sabrina Pena</cp:lastModifiedBy>
  <cp:revision>1</cp:revision>
  <dcterms:created xsi:type="dcterms:W3CDTF">2026-10-13T20:44:32Z</dcterms:created>
  <dcterms:modified xsi:type="dcterms:W3CDTF">2026-10-13T20:44:32Z</dcterms:modified>
</cp:coreProperties>
</file>